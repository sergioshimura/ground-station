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62" r:id="rId14"/>
    <p:sldId id="258" r:id="rId15"/>
    <p:sldId id="263" r:id="rId16"/>
    <p:sldId id="259" r:id="rId17"/>
    <p:sldId id="264" r:id="rId18"/>
    <p:sldId id="260" r:id="rId19"/>
    <p:sldId id="261" r:id="rId20"/>
    <p:sldId id="265" r:id="rId21"/>
    <p:sldId id="266" r:id="rId22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8244FB-DC15-4CE3-9344-2EB179050EA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F566F4A-AD9A-4AF2-B2F4-76CA8E246CC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9FD8486-D75C-43CD-809A-6D552838587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1F6353A-3072-4829-959A-6C474AECF1E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7150DA2-562A-467C-BBE7-1ADE9C2E79B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F11E778C-7737-4547-8F8C-4C3F70F3DCE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65F7A513-0771-44D1-8090-7781FC09DFE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4F5E6095-5ACC-462C-A1FA-FE813E6E71C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DF7EB11-785E-4F63-BA51-06FC8771115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CAB76D9-5278-4AF4-A1FC-6B76462792B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B36B92F-7DB5-4F18-B378-0259C8C2884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0553D6-6521-4242-A88E-D53997F2513D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44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16250C-4061-43AE-8FA6-550C0C5198B3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44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89E183-E272-45C2-9913-20249B70A566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44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134C9D-5143-464C-89AE-F8BD718DAAC2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60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Clique para editar o texto mestre</a:t>
            </a:r>
            <a:endParaRPr lang="pt-BR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59CF0-4398-451C-BDBC-D2D3B6174E6B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44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E15781-A3A9-4FE0-927E-FE62258CDDF0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44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  <a:endParaRPr lang="pt-BR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  <a:endParaRPr lang="pt-BR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55EACC-E0EC-4D63-8B7A-5A47D62FE4C0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44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719400-2C9B-4E9C-A2B4-BDBC448AFF21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5ED7A5-33F8-4B4D-BC25-6108B20412C2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32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strike="noStrike" spc="-1">
                <a:solidFill>
                  <a:schemeClr val="dk1"/>
                </a:solidFill>
                <a:latin typeface="Calibri"/>
              </a:rPr>
              <a:t>Segundo nível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Terceiro nível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Quarto nível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Quinto nível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1D77AA-11AD-4B06-8A80-9C38417EED94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pt-BR" sz="3200" b="0" strike="noStrike" spc="-1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7.º nível de tópicos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strike="noStrike" spc="-1">
                <a:solidFill>
                  <a:schemeClr val="dk1"/>
                </a:solidFill>
                <a:latin typeface="Calibri"/>
              </a:rPr>
              <a:t>Clique para editar o texto mestre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CA08F8-1BC6-4D50-8D12-622139158F21}" type="slidenum">
              <a:rPr lang="pt-BR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shimurasergio@gmail.com" TargetMode="External"/><Relationship Id="rId2" Type="http://schemas.openxmlformats.org/officeDocument/2006/relationships/hyperlink" Target="https://github.com/sergioshimura/Ground-Statio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DeTexto 3"/>
          <p:cNvSpPr/>
          <p:nvPr/>
        </p:nvSpPr>
        <p:spPr>
          <a:xfrm>
            <a:off x="893520" y="1494360"/>
            <a:ext cx="25815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000" b="0" strike="noStrike" spc="-1">
                <a:solidFill>
                  <a:schemeClr val="dk1"/>
                </a:solidFill>
                <a:latin typeface="Segoe UI"/>
              </a:rPr>
              <a:t>PROPOSTA TÉCNICA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CaixaDeTexto 4"/>
          <p:cNvSpPr/>
          <p:nvPr/>
        </p:nvSpPr>
        <p:spPr>
          <a:xfrm>
            <a:off x="930240" y="1916640"/>
            <a:ext cx="5426640" cy="28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3600" b="1" strike="noStrike" spc="-1">
                <a:solidFill>
                  <a:schemeClr val="dk1"/>
                </a:solidFill>
                <a:latin typeface="Segoe UI"/>
              </a:rPr>
              <a:t>CONSULTORIA PARA IMPLEMENTAÇÃO E GESTÃO DE ESTAÇÃO DE SOLO PARA SATÉLITES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CaixaDeTexto 5"/>
          <p:cNvSpPr/>
          <p:nvPr/>
        </p:nvSpPr>
        <p:spPr>
          <a:xfrm>
            <a:off x="1078200" y="5005440"/>
            <a:ext cx="43218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000" b="1" strike="noStrike" spc="-1">
                <a:solidFill>
                  <a:schemeClr val="dk1"/>
                </a:solidFill>
                <a:latin typeface="Segoe UI"/>
              </a:rPr>
              <a:t>Parque Tecnológico de Sorocaba </a:t>
            </a:r>
            <a:endParaRPr lang="pt-BR" sz="2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" name="Conector reto 9"/>
          <p:cNvCxnSpPr/>
          <p:nvPr/>
        </p:nvCxnSpPr>
        <p:spPr>
          <a:xfrm>
            <a:off x="6819120" y="690120"/>
            <a:ext cx="360" cy="547776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grpSp>
        <p:nvGrpSpPr>
          <p:cNvPr id="70" name="Grupo 16"/>
          <p:cNvGrpSpPr/>
          <p:nvPr/>
        </p:nvGrpSpPr>
        <p:grpSpPr>
          <a:xfrm>
            <a:off x="8280000" y="1883520"/>
            <a:ext cx="2454840" cy="2436480"/>
            <a:chOff x="8280000" y="1883520"/>
            <a:chExt cx="2454840" cy="2436480"/>
          </a:xfrm>
        </p:grpSpPr>
        <p:pic>
          <p:nvPicPr>
            <p:cNvPr id="71" name="Imagem 7"/>
            <p:cNvPicPr/>
            <p:nvPr/>
          </p:nvPicPr>
          <p:blipFill>
            <a:blip r:embed="rId2"/>
            <a:stretch/>
          </p:blipFill>
          <p:spPr>
            <a:xfrm>
              <a:off x="8460360" y="1883520"/>
              <a:ext cx="1799640" cy="1799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2" name="CaixaDeTexto 10"/>
            <p:cNvSpPr/>
            <p:nvPr/>
          </p:nvSpPr>
          <p:spPr>
            <a:xfrm>
              <a:off x="8280000" y="3956040"/>
              <a:ext cx="24548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pt-BR" sz="1800" b="1" strike="noStrike" spc="-1">
                  <a:solidFill>
                    <a:schemeClr val="dk1"/>
                  </a:solidFill>
                  <a:latin typeface="Segoe UI"/>
                </a:rPr>
                <a:t>CAMPUS SOROCABA</a:t>
              </a: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Conector reto 9"/>
          <p:cNvCxnSpPr/>
          <p:nvPr/>
        </p:nvCxnSpPr>
        <p:spPr>
          <a:xfrm>
            <a:off x="6819120" y="690120"/>
            <a:ext cx="360" cy="547776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74" name="CaixaDeTexto 13"/>
          <p:cNvSpPr/>
          <p:nvPr/>
        </p:nvSpPr>
        <p:spPr>
          <a:xfrm>
            <a:off x="7363440" y="816488"/>
            <a:ext cx="30204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600" b="1" strike="noStrike" spc="-1" dirty="0">
                <a:solidFill>
                  <a:schemeClr val="dk1"/>
                </a:solidFill>
                <a:latin typeface="Segoe UI"/>
              </a:rPr>
              <a:t>COORDENADOR DE PROJETO</a:t>
            </a: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CaixaDeTexto 15"/>
          <p:cNvSpPr/>
          <p:nvPr/>
        </p:nvSpPr>
        <p:spPr>
          <a:xfrm>
            <a:off x="7363440" y="1168920"/>
            <a:ext cx="43401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1600" b="1" dirty="0"/>
              <a:t>Sergio Shimura</a:t>
            </a:r>
          </a:p>
          <a:p>
            <a:r>
              <a:rPr lang="pt-BR" sz="1600" dirty="0"/>
              <a:t>Doutor em Engenharia Elétrica — USP</a:t>
            </a:r>
          </a:p>
          <a:p>
            <a:r>
              <a:rPr lang="pt-BR" sz="1600" dirty="0"/>
              <a:t>Pós-Doutor em Eng. de Sistemas Eletrônicos — Escola Politécnica USP (2016 e 2026)</a:t>
            </a:r>
          </a:p>
          <a:p>
            <a:r>
              <a:rPr lang="pt-BR" sz="1600" dirty="0"/>
              <a:t>Professor EBTT — IFSP Campus Sorocaba (desde 2016, dedicação exclusiva)</a:t>
            </a:r>
          </a:p>
        </p:txBody>
      </p:sp>
      <p:sp>
        <p:nvSpPr>
          <p:cNvPr id="76" name="CaixaDeTexto 17"/>
          <p:cNvSpPr/>
          <p:nvPr/>
        </p:nvSpPr>
        <p:spPr>
          <a:xfrm>
            <a:off x="7363440" y="464056"/>
            <a:ext cx="18514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600" b="1" strike="noStrike" spc="-1" dirty="0">
                <a:solidFill>
                  <a:schemeClr val="dk1"/>
                </a:solidFill>
                <a:latin typeface="Segoe UI"/>
              </a:rPr>
              <a:t>EQUIPE TÉCNICA</a:t>
            </a: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CaixaDeTexto 18"/>
          <p:cNvSpPr/>
          <p:nvPr/>
        </p:nvSpPr>
        <p:spPr>
          <a:xfrm>
            <a:off x="7363440" y="2756198"/>
            <a:ext cx="4563360" cy="32917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1600" b="1" dirty="0"/>
              <a:t>Experiência diretamente aplicável:</a:t>
            </a:r>
          </a:p>
          <a:p>
            <a:r>
              <a:rPr lang="pt-BR" sz="1600" dirty="0"/>
              <a:t>• Orientador PIBIFSP: Estação de Solo para Satélites de Baixa Órbita (2024)</a:t>
            </a:r>
          </a:p>
          <a:p>
            <a:r>
              <a:rPr lang="pt-BR" sz="1600" dirty="0"/>
              <a:t>• Cooperação técnica internacional em nanosatélites — OKB 5th Gen, Rússia (2020–2021)</a:t>
            </a:r>
          </a:p>
          <a:p>
            <a:r>
              <a:rPr lang="pt-BR" sz="1600" dirty="0"/>
              <a:t>• 6 lançamentos de balão estratosférico com telemetria RF em tempo real (2018–atual)</a:t>
            </a:r>
          </a:p>
          <a:p>
            <a:r>
              <a:rPr lang="pt-BR" sz="1600" dirty="0"/>
              <a:t>• Sistema Automação, </a:t>
            </a:r>
            <a:r>
              <a:rPr lang="pt-BR" sz="1600" dirty="0" err="1"/>
              <a:t>Itaucom</a:t>
            </a:r>
            <a:r>
              <a:rPr lang="pt-BR" sz="1600" dirty="0"/>
              <a:t>, Itautec, Eaton, Hewlett-Packard, LSITEC-USP</a:t>
            </a:r>
          </a:p>
          <a:p>
            <a:endParaRPr lang="pt-BR" sz="1600" dirty="0"/>
          </a:p>
          <a:p>
            <a:r>
              <a:rPr lang="pt-BR" sz="1600" b="1" dirty="0"/>
              <a:t>Colaborador técnico:</a:t>
            </a:r>
          </a:p>
          <a:p>
            <a:r>
              <a:rPr lang="pt-BR" sz="1600" dirty="0"/>
              <a:t>• Adolfo Carvalho — Doutor em Astronomia, Caltech (EUA) e pós-</a:t>
            </a:r>
            <a:r>
              <a:rPr lang="pt-BR" sz="1600" dirty="0" err="1"/>
              <a:t>doc</a:t>
            </a:r>
            <a:r>
              <a:rPr lang="pt-BR" sz="1600" dirty="0"/>
              <a:t> Harvard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3"/>
          <p:cNvSpPr/>
          <p:nvPr/>
        </p:nvSpPr>
        <p:spPr>
          <a:xfrm>
            <a:off x="1600560" y="847440"/>
            <a:ext cx="35964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2000" b="1" dirty="0"/>
              <a:t>CONTEXTO DO PROJETO</a:t>
            </a:r>
          </a:p>
        </p:txBody>
      </p:sp>
      <p:sp>
        <p:nvSpPr>
          <p:cNvPr id="79" name="Retângulo 2"/>
          <p:cNvSpPr/>
          <p:nvPr/>
        </p:nvSpPr>
        <p:spPr>
          <a:xfrm>
            <a:off x="980640" y="1932576"/>
            <a:ext cx="7852464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1600" dirty="0"/>
              <a:t>Projeto PTSINOVA40 — FINEP "Parques Tecnologicos em Operação" (mar/2022)</a:t>
            </a:r>
          </a:p>
          <a:p>
            <a:r>
              <a:rPr lang="pt-BR" sz="1600" dirty="0"/>
              <a:t>Total aprovado: R$ 14.241.273,76  |  Prazo: 22 meses</a:t>
            </a:r>
          </a:p>
          <a:p>
            <a:endParaRPr lang="pt-BR" sz="1600" dirty="0"/>
          </a:p>
          <a:p>
            <a:r>
              <a:rPr lang="pt-BR" sz="1600" dirty="0"/>
              <a:t>A Estação Terrestre 4.0 é um dos 6 componentes do projeto.</a:t>
            </a:r>
          </a:p>
          <a:p>
            <a:r>
              <a:rPr lang="pt-BR" sz="1600" dirty="0"/>
              <a:t>Parceiro internacional: Alya Nanosatellites Constellation — Toulouse, França</a:t>
            </a:r>
          </a:p>
          <a:p>
            <a:endParaRPr lang="pt-BR" sz="1600" dirty="0"/>
          </a:p>
          <a:p>
            <a:r>
              <a:rPr lang="pt-BR" sz="1600" b="1" dirty="0"/>
              <a:t>Verbas especificas para a Estação Terrestre:</a:t>
            </a:r>
          </a:p>
          <a:p>
            <a:r>
              <a:rPr lang="pt-BR" sz="1600" dirty="0"/>
              <a:t>   Meta Fisica 2 — Equipamentos: R$ 187.209,60  (ja aprovado)</a:t>
            </a:r>
          </a:p>
          <a:p>
            <a:r>
              <a:rPr lang="pt-BR" sz="1600" dirty="0"/>
              <a:t>   Meta Fisica 3 — Consultoria e servicos: R$ 90.000,00  (ja aprovado)</a:t>
            </a:r>
          </a:p>
          <a:p>
            <a:endParaRPr lang="pt-BR" sz="1600" dirty="0"/>
          </a:p>
          <a:p>
            <a:r>
              <a:rPr lang="pt-BR" sz="1600" dirty="0"/>
              <a:t>Objetivo: capacitar 30 jovens/ano em tecnologias aeroespaciais,</a:t>
            </a:r>
          </a:p>
          <a:p>
            <a:r>
              <a:rPr lang="pt-BR" sz="1600" dirty="0"/>
              <a:t>monitoramento ambiental e agronegocio da Regiao Metropolitana de Sorocaba.</a:t>
            </a:r>
          </a:p>
        </p:txBody>
      </p:sp>
      <p:cxnSp>
        <p:nvCxnSpPr>
          <p:cNvPr id="80" name="Conector reto 6"/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81" name="CaixaDeTexto 7"/>
          <p:cNvSpPr/>
          <p:nvPr/>
        </p:nvSpPr>
        <p:spPr>
          <a:xfrm>
            <a:off x="7292880" y="6244200"/>
            <a:ext cx="4097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A8501-2AB2-4ED8-5F9D-896B15C1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81" y="547692"/>
            <a:ext cx="889179" cy="1085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3"/>
          <p:cNvSpPr/>
          <p:nvPr/>
        </p:nvSpPr>
        <p:spPr>
          <a:xfrm>
            <a:off x="1381104" y="280512"/>
            <a:ext cx="35964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r>
              <a:rPr sz="2000" b="1"/>
              <a:t>ESCOPO DO PROJETO</a:t>
            </a:r>
          </a:p>
        </p:txBody>
      </p:sp>
      <p:sp>
        <p:nvSpPr>
          <p:cNvPr id="79" name="Retângulo 2"/>
          <p:cNvSpPr/>
          <p:nvPr/>
        </p:nvSpPr>
        <p:spPr>
          <a:xfrm>
            <a:off x="759744" y="1271305"/>
            <a:ext cx="10155600" cy="49845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1600" b="1" dirty="0"/>
              <a:t>Fase 1 — Diagnóstico e Dimensionamento de Infraestrutura</a:t>
            </a:r>
          </a:p>
          <a:p>
            <a:r>
              <a:rPr lang="pt-BR" sz="1400" dirty="0"/>
              <a:t>  • Levantamento Técnico: avaliação da área física (56,72 m²) e suporte de antenas no PTS</a:t>
            </a:r>
          </a:p>
          <a:p>
            <a:r>
              <a:rPr lang="pt-BR" sz="1400" dirty="0"/>
              <a:t>  • Especificação de RF: detalhamento dos componentes de análise e amplificação para comunicação em órbita</a:t>
            </a:r>
          </a:p>
          <a:p>
            <a:r>
              <a:rPr lang="pt-BR" sz="1400" dirty="0"/>
              <a:t>  • Plano de Instalação de Antenas: especificação técnica das antenas (tipo, ganho, polarização)</a:t>
            </a:r>
          </a:p>
          <a:p>
            <a:endParaRPr lang="pt-BR" sz="1400" dirty="0"/>
          </a:p>
          <a:p>
            <a:r>
              <a:rPr lang="pt-BR" sz="1600" b="1" dirty="0"/>
              <a:t>Fase 2 — Projeto Executivo de Sistemas e IoT</a:t>
            </a:r>
          </a:p>
          <a:p>
            <a:r>
              <a:rPr lang="pt-BR" sz="1400" dirty="0"/>
              <a:t>  • Integração de Dados: planejamento da coleta de dados de sensores IoT via satélite</a:t>
            </a:r>
          </a:p>
          <a:p>
            <a:r>
              <a:rPr lang="pt-BR" sz="1400" dirty="0"/>
              <a:t>  • Arquitetura de Visualização: especificação da sala de controle (monitores, software, projeção)</a:t>
            </a:r>
          </a:p>
          <a:p>
            <a:r>
              <a:rPr lang="pt-BR" sz="1400" dirty="0"/>
              <a:t>  • Caderno de Encargos: especificações técnicas para licitação (workstations, servidores, softwares)</a:t>
            </a:r>
          </a:p>
          <a:p>
            <a:endParaRPr lang="pt-BR" sz="1400" dirty="0"/>
          </a:p>
          <a:p>
            <a:r>
              <a:rPr lang="pt-BR" sz="1600" b="1" dirty="0"/>
              <a:t>Fase 3 — Gestão de Aquisições e Suporte Técnico</a:t>
            </a:r>
          </a:p>
          <a:p>
            <a:r>
              <a:rPr lang="pt-BR" sz="1400" dirty="0"/>
              <a:t>  • Avaliação Técnica de Fornecedores: análise de especificações RF de componentes nacionais e importados</a:t>
            </a:r>
          </a:p>
          <a:p>
            <a:r>
              <a:rPr lang="pt-BR" sz="1400" dirty="0"/>
              <a:t>  • Coordenação com parceiros acadêmicos: Alya Nanosatellites (França), INPE, Caltech</a:t>
            </a:r>
          </a:p>
          <a:p>
            <a:endParaRPr lang="pt-BR" sz="1400" dirty="0"/>
          </a:p>
          <a:p>
            <a:r>
              <a:rPr lang="pt-BR" sz="1600" b="1" dirty="0"/>
              <a:t>Fase 4 — Treinamento e Transferência de Tecnologia</a:t>
            </a:r>
          </a:p>
          <a:p>
            <a:r>
              <a:rPr lang="pt-BR" sz="1400" dirty="0"/>
              <a:t>  • Capacitação Operacional: módulos de treinamento para equipes do PTS e Inova Sorocaba</a:t>
            </a:r>
          </a:p>
          <a:p>
            <a:r>
              <a:rPr lang="pt-BR" sz="1400" dirty="0"/>
              <a:t>  • Manual de Operação: documentação técnica para operação comercial e acadêmica da estação</a:t>
            </a:r>
          </a:p>
          <a:p>
            <a:endParaRPr lang="pt-BR" sz="1400" dirty="0"/>
          </a:p>
          <a:p>
            <a:r>
              <a:rPr lang="pt-BR" sz="1600" b="1" dirty="0"/>
              <a:t>Exclusões de Escopo</a:t>
            </a:r>
          </a:p>
          <a:p>
            <a:r>
              <a:rPr lang="pt-BR" sz="1400" dirty="0"/>
              <a:t>  Não estão incluídos nesta consultoria: projetos civis e elétricos (estrutura de antenas, SPDA, instalações elétricas do laboratório); obtenção de licenças junto a órgãos reguladores (ANATEL, Prefeitura, Corpo de Bombeiros, ANAC); homologação e importação de equipamentos; negociação e assinatura de contratos comerciais com fornecedores; implementação de criptografia e segurança de dados.</a:t>
            </a:r>
          </a:p>
        </p:txBody>
      </p:sp>
      <p:cxnSp>
        <p:nvCxnSpPr>
          <p:cNvPr id="80" name="Conector reto 6"/>
          <p:cNvCxnSpPr/>
          <p:nvPr/>
        </p:nvCxnSpPr>
        <p:spPr>
          <a:xfrm flipH="1" flipV="1">
            <a:off x="836424" y="954792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81" name="CaixaDeTexto 7"/>
          <p:cNvSpPr/>
          <p:nvPr/>
        </p:nvSpPr>
        <p:spPr>
          <a:xfrm>
            <a:off x="7073424" y="5677272"/>
            <a:ext cx="4097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endParaRPr/>
          </a:p>
        </p:txBody>
      </p:sp>
      <p:pic>
        <p:nvPicPr>
          <p:cNvPr id="82" name="Imagem 10"/>
          <p:cNvPicPr/>
          <p:nvPr/>
        </p:nvPicPr>
        <p:blipFill>
          <a:blip r:embed="rId2"/>
          <a:stretch/>
        </p:blipFill>
        <p:spPr>
          <a:xfrm>
            <a:off x="759744" y="257472"/>
            <a:ext cx="539640" cy="53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3"/>
          <p:cNvSpPr/>
          <p:nvPr/>
        </p:nvSpPr>
        <p:spPr>
          <a:xfrm>
            <a:off x="1600560" y="847440"/>
            <a:ext cx="35964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2000" b="1" dirty="0"/>
              <a:t>METODOLOGIA DE TRABALHO</a:t>
            </a:r>
          </a:p>
        </p:txBody>
      </p:sp>
      <p:sp>
        <p:nvSpPr>
          <p:cNvPr id="79" name="Retângulo 2"/>
          <p:cNvSpPr/>
          <p:nvPr/>
        </p:nvSpPr>
        <p:spPr>
          <a:xfrm>
            <a:off x="801240" y="1857599"/>
            <a:ext cx="10155600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b="1" dirty="0"/>
              <a:t>ME #1 — Especificacao Tecnica:</a:t>
            </a:r>
          </a:p>
          <a:p>
            <a:r>
              <a:rPr lang="pt-BR" dirty="0"/>
              <a:t>   Definicao de modelos e fabricantes para cada equipamento</a:t>
            </a:r>
          </a:p>
          <a:p>
            <a:r>
              <a:rPr lang="pt-BR" dirty="0"/>
              <a:t>   Elaboracao do caderno de encargos para licitacao</a:t>
            </a:r>
          </a:p>
          <a:p>
            <a:r>
              <a:rPr lang="pt-BR" dirty="0"/>
              <a:t>   Verificacao de fornecedores nacionais e importados</a:t>
            </a:r>
          </a:p>
          <a:p>
            <a:endParaRPr lang="pt-BR" dirty="0"/>
          </a:p>
          <a:p>
            <a:r>
              <a:rPr lang="pt-BR" b="1" dirty="0"/>
              <a:t>ME #2 — Acompanhamento de Aquisicao e Obra:</a:t>
            </a:r>
          </a:p>
          <a:p>
            <a:r>
              <a:rPr lang="pt-BR" dirty="0"/>
              <a:t>   Reunioes semanais de acompanhamento com equipe PTS/Inova</a:t>
            </a:r>
          </a:p>
          <a:p>
            <a:r>
              <a:rPr lang="pt-BR" dirty="0"/>
              <a:t>   Orientacao tecnica para preparacao da sala de controle</a:t>
            </a:r>
          </a:p>
          <a:p>
            <a:r>
              <a:rPr lang="pt-BR" dirty="0"/>
              <a:t>   Validacao dos equipamentos no recebimento</a:t>
            </a:r>
          </a:p>
          <a:p>
            <a:r>
              <a:rPr lang="pt-BR" dirty="0"/>
              <a:t>   Relatorios mensais de progresso</a:t>
            </a:r>
          </a:p>
          <a:p>
            <a:endParaRPr lang="pt-BR" dirty="0"/>
          </a:p>
          <a:p>
            <a:r>
              <a:rPr lang="pt-BR" b="1" dirty="0"/>
              <a:t>ME #3 — Comissionamento:</a:t>
            </a:r>
          </a:p>
          <a:p>
            <a:r>
              <a:rPr lang="pt-BR" dirty="0"/>
              <a:t>   Instalacao e configuracao dos sistemas RF, antenas e rotator</a:t>
            </a:r>
          </a:p>
          <a:p>
            <a:r>
              <a:rPr lang="pt-BR" dirty="0"/>
              <a:t>   Testes de recepcao: NOAA APT, CubeSats, ISS, GOES-16</a:t>
            </a:r>
          </a:p>
          <a:p>
            <a:r>
              <a:rPr lang="pt-BR" dirty="0"/>
              <a:t>   Treinamento da equipe do PTS para operacao</a:t>
            </a:r>
          </a:p>
          <a:p>
            <a:r>
              <a:rPr lang="pt-BR" dirty="0"/>
              <a:t>   Documentacao tecnica e manual de operacao</a:t>
            </a:r>
          </a:p>
        </p:txBody>
      </p:sp>
      <p:cxnSp>
        <p:nvCxnSpPr>
          <p:cNvPr id="80" name="Conector reto 6"/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81" name="CaixaDeTexto 7"/>
          <p:cNvSpPr/>
          <p:nvPr/>
        </p:nvSpPr>
        <p:spPr>
          <a:xfrm>
            <a:off x="7292880" y="6244200"/>
            <a:ext cx="4097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3CCC3D-6A6E-F262-831D-9C75EB88A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055880" y="788400"/>
            <a:ext cx="544680" cy="54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tângulo 3"/>
          <p:cNvSpPr/>
          <p:nvPr/>
        </p:nvSpPr>
        <p:spPr>
          <a:xfrm>
            <a:off x="1605600" y="847440"/>
            <a:ext cx="31028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strike="noStrike" spc="-1">
                <a:solidFill>
                  <a:schemeClr val="dk1"/>
                </a:solidFill>
                <a:latin typeface="Segoe UI"/>
              </a:rPr>
              <a:t>MACROENTREGAS</a:t>
            </a:r>
            <a:endParaRPr lang="pt-BR" sz="2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Conector reto 6"/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pic>
        <p:nvPicPr>
          <p:cNvPr id="85" name="Imagem 1"/>
          <p:cNvPicPr/>
          <p:nvPr/>
        </p:nvPicPr>
        <p:blipFill>
          <a:blip r:embed="rId2"/>
          <a:stretch/>
        </p:blipFill>
        <p:spPr>
          <a:xfrm>
            <a:off x="979200" y="82440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86" name="CaixaDeTexto 4"/>
          <p:cNvSpPr/>
          <p:nvPr/>
        </p:nvSpPr>
        <p:spPr>
          <a:xfrm>
            <a:off x="844200" y="2281680"/>
            <a:ext cx="2340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Segoe UI"/>
              </a:rPr>
              <a:t>MACROENTREGA #1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CaixaDeTexto 9"/>
          <p:cNvSpPr/>
          <p:nvPr/>
        </p:nvSpPr>
        <p:spPr>
          <a:xfrm>
            <a:off x="6723720" y="1674000"/>
            <a:ext cx="4395240" cy="179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Lista de itens para aquisição/contratação: 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1) antenas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2) amplificadores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3) receptores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4) computadores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5) softwares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6) contratação de serviços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" name="Grupo 21"/>
          <p:cNvGrpSpPr/>
          <p:nvPr/>
        </p:nvGrpSpPr>
        <p:grpSpPr>
          <a:xfrm>
            <a:off x="4205520" y="2281680"/>
            <a:ext cx="1375560" cy="364320"/>
            <a:chOff x="4205520" y="2281680"/>
            <a:chExt cx="1375560" cy="364320"/>
          </a:xfrm>
        </p:grpSpPr>
        <p:sp>
          <p:nvSpPr>
            <p:cNvPr id="89" name="CaixaDeTexto 8"/>
            <p:cNvSpPr/>
            <p:nvPr/>
          </p:nvSpPr>
          <p:spPr>
            <a:xfrm>
              <a:off x="4627440" y="2281680"/>
              <a:ext cx="9536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pt-BR" sz="1800" b="0" strike="noStrike" spc="-1">
                  <a:solidFill>
                    <a:schemeClr val="dk1"/>
                  </a:solidFill>
                  <a:latin typeface="Segoe UI"/>
                </a:rPr>
                <a:t>01 mês</a:t>
              </a: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90" name="Imagem 10"/>
            <p:cNvPicPr/>
            <p:nvPr/>
          </p:nvPicPr>
          <p:blipFill>
            <a:blip r:embed="rId3"/>
            <a:stretch/>
          </p:blipFill>
          <p:spPr>
            <a:xfrm>
              <a:off x="4205520" y="2286360"/>
              <a:ext cx="359640" cy="359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1" name="CaixaDeTexto 24"/>
          <p:cNvSpPr/>
          <p:nvPr/>
        </p:nvSpPr>
        <p:spPr>
          <a:xfrm>
            <a:off x="844200" y="3576960"/>
            <a:ext cx="2340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Segoe UI"/>
              </a:rPr>
              <a:t>MACROENTREGA #2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aixaDeTexto 25"/>
          <p:cNvSpPr/>
          <p:nvPr/>
        </p:nvSpPr>
        <p:spPr>
          <a:xfrm>
            <a:off x="6740280" y="3472920"/>
            <a:ext cx="4395240" cy="11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Acompanhamento dos pedidos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Acompanhamento e orientação para preparação da sala e do laboratório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3" name="Grupo 26"/>
          <p:cNvGrpSpPr/>
          <p:nvPr/>
        </p:nvGrpSpPr>
        <p:grpSpPr>
          <a:xfrm>
            <a:off x="4205520" y="3576960"/>
            <a:ext cx="1494000" cy="364320"/>
            <a:chOff x="4205520" y="3576960"/>
            <a:chExt cx="1494000" cy="364320"/>
          </a:xfrm>
        </p:grpSpPr>
        <p:sp>
          <p:nvSpPr>
            <p:cNvPr id="94" name="CaixaDeTexto 27"/>
            <p:cNvSpPr/>
            <p:nvPr/>
          </p:nvSpPr>
          <p:spPr>
            <a:xfrm>
              <a:off x="4509360" y="3576960"/>
              <a:ext cx="1190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pt-BR" sz="1800" b="0" strike="noStrike" spc="-1">
                  <a:solidFill>
                    <a:schemeClr val="dk1"/>
                  </a:solidFill>
                  <a:latin typeface="Segoe UI"/>
                </a:rPr>
                <a:t>02 meses</a:t>
              </a: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95" name="Imagem 28"/>
            <p:cNvPicPr/>
            <p:nvPr/>
          </p:nvPicPr>
          <p:blipFill>
            <a:blip r:embed="rId3"/>
            <a:stretch/>
          </p:blipFill>
          <p:spPr>
            <a:xfrm>
              <a:off x="4205520" y="3581640"/>
              <a:ext cx="359640" cy="35964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96" name="Conector reto 35"/>
          <p:cNvCxnSpPr/>
          <p:nvPr/>
        </p:nvCxnSpPr>
        <p:spPr>
          <a:xfrm flipH="1" flipV="1">
            <a:off x="870840" y="3297240"/>
            <a:ext cx="10080360" cy="2880"/>
          </a:xfrm>
          <a:prstGeom prst="straightConnector1">
            <a:avLst/>
          </a:prstGeom>
          <a:ln w="28575">
            <a:solidFill>
              <a:srgbClr val="E7E6E6">
                <a:lumMod val="75000"/>
              </a:srgbClr>
            </a:solidFill>
            <a:prstDash val="sysDot"/>
          </a:ln>
        </p:spPr>
      </p:cxnSp>
      <p:cxnSp>
        <p:nvCxnSpPr>
          <p:cNvPr id="97" name="Conector reto 1"/>
          <p:cNvCxnSpPr/>
          <p:nvPr/>
        </p:nvCxnSpPr>
        <p:spPr>
          <a:xfrm flipH="1" flipV="1">
            <a:off x="870840" y="4413600"/>
            <a:ext cx="10080360" cy="2880"/>
          </a:xfrm>
          <a:prstGeom prst="straightConnector1">
            <a:avLst/>
          </a:prstGeom>
          <a:ln w="28575">
            <a:solidFill>
              <a:srgbClr val="E7E6E6">
                <a:lumMod val="75000"/>
              </a:srgbClr>
            </a:solidFill>
            <a:prstDash val="sysDot"/>
          </a:ln>
        </p:spPr>
      </p:cxnSp>
      <p:sp>
        <p:nvSpPr>
          <p:cNvPr id="98" name="CaixaDeTexto 1"/>
          <p:cNvSpPr/>
          <p:nvPr/>
        </p:nvSpPr>
        <p:spPr>
          <a:xfrm>
            <a:off x="916200" y="4692960"/>
            <a:ext cx="23407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>
                <a:solidFill>
                  <a:schemeClr val="dk1"/>
                </a:solidFill>
                <a:latin typeface="Segoe UI"/>
              </a:rPr>
              <a:t>MACROENTREGA #3</a:t>
            </a: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" name="Grupo 1"/>
          <p:cNvGrpSpPr/>
          <p:nvPr/>
        </p:nvGrpSpPr>
        <p:grpSpPr>
          <a:xfrm>
            <a:off x="4205520" y="4692960"/>
            <a:ext cx="1494000" cy="364320"/>
            <a:chOff x="4205520" y="4692960"/>
            <a:chExt cx="1494000" cy="364320"/>
          </a:xfrm>
        </p:grpSpPr>
        <p:sp>
          <p:nvSpPr>
            <p:cNvPr id="100" name="CaixaDeTexto 2"/>
            <p:cNvSpPr/>
            <p:nvPr/>
          </p:nvSpPr>
          <p:spPr>
            <a:xfrm>
              <a:off x="4509360" y="4692960"/>
              <a:ext cx="1190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pt-BR" sz="1800" b="0" strike="noStrike" spc="-1">
                  <a:solidFill>
                    <a:schemeClr val="dk1"/>
                  </a:solidFill>
                  <a:latin typeface="Segoe UI"/>
                </a:rPr>
                <a:t>02 meses</a:t>
              </a: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01" name="Imagem 2"/>
            <p:cNvPicPr/>
            <p:nvPr/>
          </p:nvPicPr>
          <p:blipFill>
            <a:blip r:embed="rId3"/>
            <a:stretch/>
          </p:blipFill>
          <p:spPr>
            <a:xfrm>
              <a:off x="4205520" y="4697640"/>
              <a:ext cx="359640" cy="359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2" name="CaixaDeTexto 6"/>
          <p:cNvSpPr/>
          <p:nvPr/>
        </p:nvSpPr>
        <p:spPr>
          <a:xfrm>
            <a:off x="6740280" y="4730400"/>
            <a:ext cx="439524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pt-BR" sz="1400" b="0" strike="noStrike" spc="-1">
                <a:solidFill>
                  <a:schemeClr val="dk1"/>
                </a:solidFill>
                <a:latin typeface="Segoe UI"/>
              </a:rPr>
              <a:t>Comissionamento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3"/>
          <p:cNvSpPr/>
          <p:nvPr/>
        </p:nvSpPr>
        <p:spPr>
          <a:xfrm>
            <a:off x="1554840" y="417672"/>
            <a:ext cx="35964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sz="2000" b="1" dirty="0"/>
              <a:t>CRONOGRAMA</a:t>
            </a:r>
          </a:p>
        </p:txBody>
      </p:sp>
      <p:sp>
        <p:nvSpPr>
          <p:cNvPr id="79" name="Retângulo 2"/>
          <p:cNvSpPr/>
          <p:nvPr/>
        </p:nvSpPr>
        <p:spPr>
          <a:xfrm>
            <a:off x="934920" y="1150648"/>
            <a:ext cx="10155600" cy="5446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1600" b="1" dirty="0"/>
              <a:t>Jun/2026 — Fase 1: Diagnóstico e Dimensionamento</a:t>
            </a:r>
          </a:p>
          <a:p>
            <a:r>
              <a:rPr lang="pt-BR" sz="1400" dirty="0"/>
              <a:t>  Levantamento técnico da área | Especificação de RF | Início do Plano de Antenas</a:t>
            </a:r>
          </a:p>
          <a:p>
            <a:r>
              <a:rPr lang="pt-BR" sz="1400" dirty="0"/>
              <a:t>  Entregável: Plano de trabalho técnico-científico e lista de equipamentos (Relatório de viabilidade técnica + Documento de especificação de RF)</a:t>
            </a:r>
          </a:p>
          <a:p>
            <a:endParaRPr lang="pt-BR" sz="1400" dirty="0"/>
          </a:p>
          <a:p>
            <a:r>
              <a:rPr lang="pt-BR" sz="1600" b="1" dirty="0"/>
              <a:t>Jul/2026 — Fases 1 e 2: Infraestrutura e Sistemas</a:t>
            </a:r>
          </a:p>
          <a:p>
            <a:r>
              <a:rPr lang="pt-BR" sz="1400" dirty="0"/>
              <a:t>  Conclusão do Plano de Antenas | Integração IoT | Início da Arquitetura de Visualização</a:t>
            </a:r>
          </a:p>
          <a:p>
            <a:r>
              <a:rPr lang="pt-BR" sz="1400" dirty="0"/>
              <a:t>  Entregável: Acompanhamento dos pedidos e testes (Projeto estrutural das antenas (3,2 m e 4,0 m) e SPDA | Plano IoT)</a:t>
            </a:r>
          </a:p>
          <a:p>
            <a:endParaRPr lang="pt-BR" sz="1400" dirty="0"/>
          </a:p>
          <a:p>
            <a:r>
              <a:rPr lang="pt-BR" sz="1600" b="1" dirty="0"/>
              <a:t>Ago/2026 — Fases 2 e 3: Sistemas e Aquisições</a:t>
            </a:r>
          </a:p>
          <a:p>
            <a:r>
              <a:rPr lang="pt-BR" sz="1400" dirty="0"/>
              <a:t>  Conclusão da Arquitetura de Visualização | Criptografia | Início do Caderno de Encargos</a:t>
            </a:r>
          </a:p>
          <a:p>
            <a:r>
              <a:rPr lang="pt-BR" sz="1400" dirty="0"/>
              <a:t>  Entregável: Continuação de recebimento de equipamentos e testes (Projeto executivo da Sala de Controle | Protocolos de segurança)</a:t>
            </a:r>
          </a:p>
          <a:p>
            <a:endParaRPr lang="pt-BR" sz="1400" dirty="0"/>
          </a:p>
          <a:p>
            <a:r>
              <a:rPr lang="pt-BR" sz="1600" b="1" dirty="0"/>
              <a:t>Set/2026 — Fase 3: Gestão de Aquisições</a:t>
            </a:r>
          </a:p>
          <a:p>
            <a:r>
              <a:rPr lang="pt-BR" sz="1400" dirty="0"/>
              <a:t>  Conclusão do Caderno de Encargos | Início da Avaliação de Fornecedores</a:t>
            </a:r>
          </a:p>
          <a:p>
            <a:r>
              <a:rPr lang="pt-BR" sz="1400" dirty="0"/>
              <a:t>  Entregável: (Caderno de encargos para licitação | Draft do Manual de Operação)</a:t>
            </a:r>
          </a:p>
          <a:p>
            <a:endParaRPr lang="pt-BR" sz="1400" dirty="0"/>
          </a:p>
          <a:p>
            <a:r>
              <a:rPr lang="pt-BR" sz="1600" b="1" dirty="0"/>
              <a:t>Out/2026 — Fases 3 e 4: Suporte e Treinamento</a:t>
            </a:r>
          </a:p>
          <a:p>
            <a:r>
              <a:rPr lang="pt-BR" sz="1400" dirty="0"/>
              <a:t>  Avaliação de Fornecedores concluída | Manual de Operação finalizado | Capacitação</a:t>
            </a:r>
          </a:p>
          <a:p>
            <a:r>
              <a:rPr lang="pt-BR" sz="1400" dirty="0"/>
              <a:t>  Entregável: Pareceres de fornecedores | Manual completo | Treinamento PTS e Inova</a:t>
            </a:r>
          </a:p>
          <a:p>
            <a:endParaRPr lang="pt-BR" sz="1400" dirty="0"/>
          </a:p>
          <a:p>
            <a:r>
              <a:rPr lang="pt-BR" sz="1600" b="1" dirty="0"/>
              <a:t>Nov/2026 — Encerramento e Inauguração</a:t>
            </a:r>
          </a:p>
          <a:p>
            <a:r>
              <a:rPr lang="pt-BR" sz="1400" dirty="0"/>
              <a:t>  Comissionamento final da estação | Testes operacionais | Entrega formal ao PTS</a:t>
            </a:r>
          </a:p>
          <a:p>
            <a:r>
              <a:rPr lang="pt-BR" sz="1400" dirty="0"/>
              <a:t>  Entregável: Estação operacional inaugurada | Relatório final de consultoria</a:t>
            </a:r>
          </a:p>
        </p:txBody>
      </p:sp>
      <p:cxnSp>
        <p:nvCxnSpPr>
          <p:cNvPr id="80" name="Conector reto 6"/>
          <p:cNvCxnSpPr/>
          <p:nvPr/>
        </p:nvCxnSpPr>
        <p:spPr>
          <a:xfrm flipH="1" flipV="1">
            <a:off x="1010160" y="1091952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81" name="CaixaDeTexto 7"/>
          <p:cNvSpPr/>
          <p:nvPr/>
        </p:nvSpPr>
        <p:spPr>
          <a:xfrm>
            <a:off x="7247160" y="5814432"/>
            <a:ext cx="4097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F0C68-BA01-45F7-14DE-36623939B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48" y="289856"/>
            <a:ext cx="673473" cy="672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tângulo 3"/>
          <p:cNvSpPr/>
          <p:nvPr/>
        </p:nvSpPr>
        <p:spPr>
          <a:xfrm>
            <a:off x="1601280" y="847440"/>
            <a:ext cx="347004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strike="noStrike" spc="-1">
                <a:solidFill>
                  <a:schemeClr val="dk1"/>
                </a:solidFill>
                <a:latin typeface="Segoe UI"/>
              </a:rPr>
              <a:t>RISCOS DO PROJETO</a:t>
            </a:r>
            <a:endParaRPr lang="pt-BR" sz="2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4" name="Conector reto 6"/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pic>
        <p:nvPicPr>
          <p:cNvPr id="105" name="Imagem 1"/>
          <p:cNvPicPr/>
          <p:nvPr/>
        </p:nvPicPr>
        <p:blipFill>
          <a:blip r:embed="rId2"/>
          <a:stretch/>
        </p:blipFill>
        <p:spPr>
          <a:xfrm>
            <a:off x="979200" y="82440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06" name="TextBox 4"/>
          <p:cNvSpPr/>
          <p:nvPr/>
        </p:nvSpPr>
        <p:spPr>
          <a:xfrm>
            <a:off x="1607040" y="1899360"/>
            <a:ext cx="9687960" cy="36918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ME #1: 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Os valores provavelmente estão defasados.</a:t>
            </a: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pc="-1" dirty="0">
                <a:solidFill>
                  <a:schemeClr val="dk1"/>
                </a:solidFill>
                <a:latin typeface="Calibri"/>
              </a:rPr>
              <a:t>Falta de fornecimento local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Atraso na entrega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Especificação errada ou falta de item ou serviço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ME #2: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Atraso das obras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ME #3: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strike="noStrike" spc="-1" dirty="0">
                <a:solidFill>
                  <a:schemeClr val="dk1"/>
                </a:solidFill>
                <a:latin typeface="Calibri"/>
              </a:rPr>
              <a:t>Atraso das obras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tângulo 3"/>
          <p:cNvSpPr/>
          <p:nvPr/>
        </p:nvSpPr>
        <p:spPr>
          <a:xfrm>
            <a:off x="1603800" y="847440"/>
            <a:ext cx="338148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2600" b="1" strike="noStrike" spc="-1">
                <a:solidFill>
                  <a:schemeClr val="dk1"/>
                </a:solidFill>
                <a:latin typeface="Segoe UI"/>
              </a:rPr>
              <a:t>CUSTO DO PROJETO</a:t>
            </a:r>
            <a:endParaRPr lang="pt-BR" sz="2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Conector reto 6"/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pic>
        <p:nvPicPr>
          <p:cNvPr id="109" name="Imagem 1"/>
          <p:cNvPicPr/>
          <p:nvPr/>
        </p:nvPicPr>
        <p:blipFill>
          <a:blip r:embed="rId2"/>
          <a:stretch/>
        </p:blipFill>
        <p:spPr>
          <a:xfrm>
            <a:off x="979200" y="82440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10" name="Retângulo 4"/>
          <p:cNvSpPr/>
          <p:nvPr/>
        </p:nvSpPr>
        <p:spPr>
          <a:xfrm>
            <a:off x="5216400" y="1811520"/>
            <a:ext cx="5999760" cy="844200"/>
          </a:xfrm>
          <a:prstGeom prst="rect">
            <a:avLst/>
          </a:prstGeom>
          <a:noFill/>
          <a:ln w="57150">
            <a:solidFill>
              <a:srgbClr val="5B9BD5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Segoe UI"/>
              </a:rPr>
              <a:t>R$ 187.209,60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tângulo 8"/>
          <p:cNvSpPr/>
          <p:nvPr/>
        </p:nvSpPr>
        <p:spPr>
          <a:xfrm>
            <a:off x="945720" y="2033640"/>
            <a:ext cx="412200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2401"/>
              </a:lnSpc>
            </a:pPr>
            <a:r>
              <a:rPr lang="pt-BR" sz="2400" b="1" strike="noStrike" spc="-1">
                <a:solidFill>
                  <a:schemeClr val="dk1"/>
                </a:solidFill>
                <a:latin typeface="Segoe UI"/>
              </a:rPr>
              <a:t>CUSTO TOTAL DO PROJETO</a:t>
            </a:r>
            <a:endParaRPr lang="pt-BR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45720" y="2866374"/>
            <a:ext cx="10839600" cy="306000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/>
          <a:p>
            <a:r>
              <a:rPr lang="pt-BR" b="1" dirty="0"/>
              <a:t>EQUIPAMENTOS — verba FINEP / Meta Física 2 (já aprovada)</a:t>
            </a:r>
          </a:p>
          <a:p>
            <a:r>
              <a:rPr lang="pt-BR" sz="1600" dirty="0"/>
              <a:t>Equipamento RF Comunicação ................................ R$ 35.494,20</a:t>
            </a:r>
          </a:p>
          <a:p>
            <a:r>
              <a:rPr lang="pt-BR" sz="1600" dirty="0"/>
              <a:t>Equipamento RF Análise ........................................ R$ 11.735,88</a:t>
            </a:r>
          </a:p>
          <a:p>
            <a:r>
              <a:rPr lang="pt-BR" sz="1600" dirty="0"/>
              <a:t>Equipamento RF Amplificação ................................ R$ 53.585,63</a:t>
            </a:r>
          </a:p>
          <a:p>
            <a:r>
              <a:rPr lang="pt-BR" sz="1600" dirty="0"/>
              <a:t>Antenas Direcionais VHF/UHF ................................ R$ 10.290,00</a:t>
            </a:r>
          </a:p>
          <a:p>
            <a:r>
              <a:rPr lang="pt-BR" sz="1600" dirty="0"/>
              <a:t>Estrutura de Antenas e Para-raio ............................. R$ 11.400,00</a:t>
            </a:r>
          </a:p>
          <a:p>
            <a:r>
              <a:rPr lang="pt-BR" sz="1600" dirty="0"/>
              <a:t>Equipamento Controle e Movimento .......................... R$ 54.983,89</a:t>
            </a:r>
          </a:p>
          <a:p>
            <a:r>
              <a:rPr lang="pt-BR" sz="1600" dirty="0"/>
              <a:t>4x Monitor 30" ................................................... R$ 9.720,00</a:t>
            </a:r>
          </a:p>
          <a:p>
            <a:r>
              <a:rPr lang="pt-BR" b="1" dirty="0"/>
              <a:t>TOTAL EQUIPAMENTOS ...................................... R$ 187.209,60</a:t>
            </a:r>
          </a:p>
          <a:p>
            <a:endParaRPr lang="pt-BR" b="1" dirty="0"/>
          </a:p>
          <a:p>
            <a:r>
              <a:rPr lang="pt-BR" b="1" dirty="0"/>
              <a:t>HONORÁRIOS DE CONSULTORIA — Meta Física 3</a:t>
            </a:r>
          </a:p>
          <a:p>
            <a:r>
              <a:rPr lang="pt-BR" dirty="0"/>
              <a:t>10 h/semana  x  R$ 220,00/h  x  25 semanas  =  R$ 55.000,00</a:t>
            </a:r>
          </a:p>
          <a:p>
            <a:r>
              <a:rPr lang="pt-BR" dirty="0"/>
              <a:t>Prazo: junho a novembro/2026</a:t>
            </a:r>
          </a:p>
          <a:p>
            <a:r>
              <a:rPr lang="pt-BR" dirty="0"/>
              <a:t>Orçamento aprovado Meta 3: R$ 90.000,00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3"/>
          <p:cNvSpPr/>
          <p:nvPr/>
        </p:nvSpPr>
        <p:spPr>
          <a:xfrm>
            <a:off x="1600560" y="847440"/>
            <a:ext cx="35964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2000" b="1" dirty="0"/>
              <a:t>PROXIMOS PASSOS</a:t>
            </a:r>
          </a:p>
        </p:txBody>
      </p:sp>
      <p:sp>
        <p:nvSpPr>
          <p:cNvPr id="79" name="Retângulo 2"/>
          <p:cNvSpPr/>
          <p:nvPr/>
        </p:nvSpPr>
        <p:spPr>
          <a:xfrm>
            <a:off x="980280" y="2306520"/>
            <a:ext cx="10155600" cy="17528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dirty="0"/>
              <a:t>1.  Aprovação da proposta pela Inova Sorocaba e PTS</a:t>
            </a:r>
          </a:p>
          <a:p>
            <a:r>
              <a:rPr lang="pt-BR" dirty="0"/>
              <a:t>2.  Assinatura do contrato de consultoria</a:t>
            </a:r>
          </a:p>
          <a:p>
            <a:r>
              <a:rPr lang="pt-BR" dirty="0"/>
              <a:t>3.  Kick-off: definição do ponto focal técnico no PTS</a:t>
            </a:r>
          </a:p>
          <a:p>
            <a:r>
              <a:rPr lang="pt-BR" dirty="0"/>
              <a:t>4.  Visita técnica ao espaço destinado ao laboratorio (56,72 m2)</a:t>
            </a:r>
          </a:p>
          <a:p>
            <a:r>
              <a:rPr lang="pt-BR" dirty="0"/>
              <a:t>5.  Inicio da especificação técnica dos equipamentos</a:t>
            </a:r>
          </a:p>
          <a:p>
            <a:r>
              <a:rPr lang="pt-BR" dirty="0"/>
              <a:t>6.  Reativação do contato com Alya Nanosatellites Constellation (França)</a:t>
            </a:r>
          </a:p>
        </p:txBody>
      </p:sp>
      <p:cxnSp>
        <p:nvCxnSpPr>
          <p:cNvPr id="80" name="Conector reto 6"/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81" name="CaixaDeTexto 7"/>
          <p:cNvSpPr/>
          <p:nvPr/>
        </p:nvSpPr>
        <p:spPr>
          <a:xfrm>
            <a:off x="7292880" y="6244200"/>
            <a:ext cx="4097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7751ED-B49D-1D2C-041E-42DAC376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20" y="717540"/>
            <a:ext cx="745440" cy="745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CD75-FF4A-113E-DE70-6EEFE76F9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3">
            <a:extLst>
              <a:ext uri="{FF2B5EF4-FFF2-40B4-BE49-F238E27FC236}">
                <a16:creationId xmlns:a16="http://schemas.microsoft.com/office/drawing/2014/main" id="{D2550958-74CF-9240-0AE1-AD12299B8285}"/>
              </a:ext>
            </a:extLst>
          </p:cNvPr>
          <p:cNvSpPr/>
          <p:nvPr/>
        </p:nvSpPr>
        <p:spPr>
          <a:xfrm>
            <a:off x="1993849" y="762636"/>
            <a:ext cx="611776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sz="2000" b="1" dirty="0"/>
              <a:t>Maiores informações: Página do GitHub</a:t>
            </a:r>
          </a:p>
        </p:txBody>
      </p:sp>
      <p:sp>
        <p:nvSpPr>
          <p:cNvPr id="79" name="Retângulo 2">
            <a:extLst>
              <a:ext uri="{FF2B5EF4-FFF2-40B4-BE49-F238E27FC236}">
                <a16:creationId xmlns:a16="http://schemas.microsoft.com/office/drawing/2014/main" id="{3399C182-3D98-F512-4DE6-B4ED5A8BB645}"/>
              </a:ext>
            </a:extLst>
          </p:cNvPr>
          <p:cNvSpPr/>
          <p:nvPr/>
        </p:nvSpPr>
        <p:spPr>
          <a:xfrm>
            <a:off x="980280" y="2306520"/>
            <a:ext cx="1015560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pt-BR" dirty="0">
                <a:hlinkClick r:id="rId2"/>
              </a:rPr>
              <a:t>https://github.com/sergioshimura/Ground-Station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3"/>
              </a:rPr>
              <a:t>shimurasergio@gmail.com</a:t>
            </a:r>
            <a:endParaRPr lang="pt-BR" dirty="0"/>
          </a:p>
          <a:p>
            <a:r>
              <a:rPr lang="pt-BR" dirty="0"/>
              <a:t>11-97058-8612</a:t>
            </a:r>
          </a:p>
        </p:txBody>
      </p:sp>
      <p:cxnSp>
        <p:nvCxnSpPr>
          <p:cNvPr id="80" name="Conector reto 6">
            <a:extLst>
              <a:ext uri="{FF2B5EF4-FFF2-40B4-BE49-F238E27FC236}">
                <a16:creationId xmlns:a16="http://schemas.microsoft.com/office/drawing/2014/main" id="{AC9A271F-72E4-94E6-3AC6-C08DECA0567B}"/>
              </a:ext>
            </a:extLst>
          </p:cNvPr>
          <p:cNvCxnSpPr/>
          <p:nvPr/>
        </p:nvCxnSpPr>
        <p:spPr>
          <a:xfrm flipH="1" flipV="1">
            <a:off x="1055880" y="1521720"/>
            <a:ext cx="10080360" cy="252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</a:ln>
        </p:spPr>
      </p:cxnSp>
      <p:sp>
        <p:nvSpPr>
          <p:cNvPr id="81" name="CaixaDeTexto 7">
            <a:extLst>
              <a:ext uri="{FF2B5EF4-FFF2-40B4-BE49-F238E27FC236}">
                <a16:creationId xmlns:a16="http://schemas.microsoft.com/office/drawing/2014/main" id="{012FE746-6EB4-9D45-C2E3-CF428E8DA460}"/>
              </a:ext>
            </a:extLst>
          </p:cNvPr>
          <p:cNvSpPr/>
          <p:nvPr/>
        </p:nvSpPr>
        <p:spPr>
          <a:xfrm>
            <a:off x="7292880" y="6244200"/>
            <a:ext cx="40978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25CF2-C3A6-45C6-554C-7CA628089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09" y="294478"/>
            <a:ext cx="1331086" cy="122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689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1205</Words>
  <Application>Microsoft Office PowerPoint</Application>
  <PresentationFormat>Widescreen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11</vt:i4>
      </vt:variant>
    </vt:vector>
  </HeadingPairs>
  <TitlesOfParts>
    <vt:vector size="30" baseType="lpstr">
      <vt:lpstr>OpenSymbol</vt:lpstr>
      <vt:lpstr>Arial</vt:lpstr>
      <vt:lpstr>Calibri</vt:lpstr>
      <vt:lpstr>Calibri Light</vt:lpstr>
      <vt:lpstr>Segoe UI</vt:lpstr>
      <vt:lpstr>Symbol</vt:lpstr>
      <vt:lpstr>Times New Roman</vt:lpstr>
      <vt:lpstr>Wingdings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Conta da Microsoft</dc:creator>
  <dc:description/>
  <cp:lastModifiedBy>Sergio Shimura</cp:lastModifiedBy>
  <cp:revision>28</cp:revision>
  <dcterms:created xsi:type="dcterms:W3CDTF">2025-05-14T16:47:49Z</dcterms:created>
  <dcterms:modified xsi:type="dcterms:W3CDTF">2026-06-09T15:30:42Z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